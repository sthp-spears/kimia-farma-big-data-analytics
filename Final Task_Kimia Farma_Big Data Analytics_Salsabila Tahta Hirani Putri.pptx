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ubik Medium"/>
      <p:regular r:id="rId17"/>
      <p:bold r:id="rId18"/>
      <p:italic r:id="rId19"/>
      <p:boldItalic r:id="rId20"/>
    </p:embeddedFont>
    <p:embeddedFont>
      <p:font typeface="Rubik Light"/>
      <p:regular r:id="rId21"/>
      <p:bold r:id="rId22"/>
      <p:italic r:id="rId23"/>
      <p:boldItalic r:id="rId24"/>
    </p:embeddedFont>
    <p:embeddedFont>
      <p:font typeface="Rubik"/>
      <p:regular r:id="rId25"/>
      <p:bold r:id="rId26"/>
      <p:italic r:id="rId27"/>
      <p:boldItalic r:id="rId28"/>
    </p:embeddedFont>
    <p:embeddedFont>
      <p:font typeface="Rubik SemiBold"/>
      <p:regular r:id="rId29"/>
      <p:bold r:id="rId30"/>
      <p:italic r:id="rId31"/>
      <p:boldItalic r:id="rId32"/>
    </p:embeddedFont>
    <p:embeddedFont>
      <p:font typeface="Roboto Mon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7" roundtripDataSignature="AMtx7mjvc8ewOd6SYRUZoU0fNB4wVoX2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ubikMedium-boldItalic.fntdata"/><Relationship Id="rId22" Type="http://schemas.openxmlformats.org/officeDocument/2006/relationships/font" Target="fonts/RubikLight-bold.fntdata"/><Relationship Id="rId21" Type="http://schemas.openxmlformats.org/officeDocument/2006/relationships/font" Target="fonts/RubikLight-regular.fntdata"/><Relationship Id="rId24" Type="http://schemas.openxmlformats.org/officeDocument/2006/relationships/font" Target="fonts/RubikLight-boldItalic.fntdata"/><Relationship Id="rId23" Type="http://schemas.openxmlformats.org/officeDocument/2006/relationships/font" Target="fonts/RubikLight-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ubik-bold.fntdata"/><Relationship Id="rId25" Type="http://schemas.openxmlformats.org/officeDocument/2006/relationships/font" Target="fonts/Rubik-regular.fntdata"/><Relationship Id="rId28" Type="http://schemas.openxmlformats.org/officeDocument/2006/relationships/font" Target="fonts/Rubik-boldItalic.fntdata"/><Relationship Id="rId27" Type="http://schemas.openxmlformats.org/officeDocument/2006/relationships/font" Target="fonts/Rubik-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ubikSemiBold-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ubikSemiBold-italic.fntdata"/><Relationship Id="rId30" Type="http://schemas.openxmlformats.org/officeDocument/2006/relationships/font" Target="fonts/RubikSemiBold-bold.fntdata"/><Relationship Id="rId11" Type="http://schemas.openxmlformats.org/officeDocument/2006/relationships/slide" Target="slides/slide6.xml"/><Relationship Id="rId33" Type="http://schemas.openxmlformats.org/officeDocument/2006/relationships/font" Target="fonts/RobotoMono-regular.fntdata"/><Relationship Id="rId10" Type="http://schemas.openxmlformats.org/officeDocument/2006/relationships/slide" Target="slides/slide5.xml"/><Relationship Id="rId32" Type="http://schemas.openxmlformats.org/officeDocument/2006/relationships/font" Target="fonts/RubikSemiBold-boldItalic.fntdata"/><Relationship Id="rId13" Type="http://schemas.openxmlformats.org/officeDocument/2006/relationships/slide" Target="slides/slide8.xml"/><Relationship Id="rId35" Type="http://schemas.openxmlformats.org/officeDocument/2006/relationships/font" Target="fonts/RobotoMono-italic.fntdata"/><Relationship Id="rId12" Type="http://schemas.openxmlformats.org/officeDocument/2006/relationships/slide" Target="slides/slide7.xml"/><Relationship Id="rId34" Type="http://schemas.openxmlformats.org/officeDocument/2006/relationships/font" Target="fonts/RobotoMono-bold.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RobotoMono-boldItalic.fntdata"/><Relationship Id="rId17" Type="http://schemas.openxmlformats.org/officeDocument/2006/relationships/font" Target="fonts/RubikMedium-regular.fntdata"/><Relationship Id="rId16" Type="http://schemas.openxmlformats.org/officeDocument/2006/relationships/slide" Target="slides/slide11.xml"/><Relationship Id="rId19" Type="http://schemas.openxmlformats.org/officeDocument/2006/relationships/font" Target="fonts/RubikMedium-italic.fntdata"/><Relationship Id="rId18" Type="http://schemas.openxmlformats.org/officeDocument/2006/relationships/font" Target="fonts/RubikMedium-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65ee868302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g265ee868302_0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3ec2985a68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23ec2985a68_1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3ec2985a68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g23ec2985a68_1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3ec2985a68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g23ec2985a68_1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3ec2985a68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g23ec2985a68_1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f637db6174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g3f637db6174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f637db6174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g3f637db6174_0_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 name="Google Shape;13;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4" name="Google Shape;14;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7" name="Google Shape;17;p1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 name="Google Shape;1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1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1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1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1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1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1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1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1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2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2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10.png"/><Relationship Id="rId7" Type="http://schemas.openxmlformats.org/officeDocument/2006/relationships/image" Target="../media/image4.png"/><Relationship Id="rId8"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hyperlink" Target="https://drive.google.com/drive/folders/1KVwhlWq8dy8JQco3xD_366FHVOHCBhaZ?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13.png"/><Relationship Id="rId6"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hyperlink" Target="https://github.com/sthp-spears/kimia-farma-big-data-analytics" TargetMode="External"/><Relationship Id="rId6" Type="http://schemas.openxmlformats.org/officeDocument/2006/relationships/hyperlink" Target="https://datastudio.google.com/u/0/reporting/3b7ad5d0-bea2-4fd3-ae7b-593e2fe7a4d2/page/e0N5F?s=vGtE9eVfH74"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9FAB"/>
        </a:solidFill>
      </p:bgPr>
    </p:bg>
    <p:spTree>
      <p:nvGrpSpPr>
        <p:cNvPr id="53" name="Shape 53"/>
        <p:cNvGrpSpPr/>
        <p:nvPr/>
      </p:nvGrpSpPr>
      <p:grpSpPr>
        <a:xfrm>
          <a:off x="0" y="0"/>
          <a:ext cx="0" cy="0"/>
          <a:chOff x="0" y="0"/>
          <a:chExt cx="0" cy="0"/>
        </a:xfrm>
      </p:grpSpPr>
      <p:pic>
        <p:nvPicPr>
          <p:cNvPr id="54" name="Google Shape;54;p1"/>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55" name="Google Shape;55;p1"/>
          <p:cNvPicPr preferRelativeResize="0"/>
          <p:nvPr/>
        </p:nvPicPr>
        <p:blipFill rotWithShape="1">
          <a:blip r:embed="rId4">
            <a:alphaModFix/>
          </a:blip>
          <a:srcRect b="0" l="0" r="0" t="0"/>
          <a:stretch/>
        </p:blipFill>
        <p:spPr>
          <a:xfrm>
            <a:off x="349800" y="186500"/>
            <a:ext cx="1399901" cy="541300"/>
          </a:xfrm>
          <a:prstGeom prst="rect">
            <a:avLst/>
          </a:prstGeom>
          <a:noFill/>
          <a:ln>
            <a:noFill/>
          </a:ln>
        </p:spPr>
      </p:pic>
      <p:sp>
        <p:nvSpPr>
          <p:cNvPr id="56" name="Google Shape;56;p1"/>
          <p:cNvSpPr txBox="1"/>
          <p:nvPr/>
        </p:nvSpPr>
        <p:spPr>
          <a:xfrm>
            <a:off x="517900" y="1215200"/>
            <a:ext cx="6239100" cy="1985700"/>
          </a:xfrm>
          <a:prstGeom prst="rect">
            <a:avLst/>
          </a:prstGeom>
          <a:noFill/>
          <a:ln>
            <a:noFill/>
          </a:ln>
          <a:effectLst>
            <a:outerShdw blurRad="57150" rotWithShape="0" algn="bl" dir="5400000" dist="19050">
              <a:srgbClr val="000000">
                <a:alpha val="49412"/>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500"/>
              <a:buFont typeface="Arial"/>
              <a:buNone/>
            </a:pPr>
            <a:r>
              <a:rPr b="1" lang="en" sz="3900">
                <a:solidFill>
                  <a:schemeClr val="lt1"/>
                </a:solidFill>
                <a:latin typeface="Rubik"/>
                <a:ea typeface="Rubik"/>
                <a:cs typeface="Rubik"/>
                <a:sym typeface="Rubik"/>
              </a:rPr>
              <a:t>BUSINESS PERFORMANCE ANALYSIS</a:t>
            </a:r>
            <a:endParaRPr b="0" i="0" u="none" cap="none" strike="noStrike">
              <a:solidFill>
                <a:schemeClr val="lt1"/>
              </a:solidFill>
              <a:latin typeface="Rubik"/>
              <a:ea typeface="Rubik"/>
              <a:cs typeface="Rubik"/>
              <a:sym typeface="Rubik"/>
            </a:endParaRPr>
          </a:p>
        </p:txBody>
      </p:sp>
      <p:sp>
        <p:nvSpPr>
          <p:cNvPr id="57" name="Google Shape;57;p1"/>
          <p:cNvSpPr txBox="1"/>
          <p:nvPr/>
        </p:nvSpPr>
        <p:spPr>
          <a:xfrm>
            <a:off x="517900" y="3130300"/>
            <a:ext cx="7289100" cy="569400"/>
          </a:xfrm>
          <a:prstGeom prst="rect">
            <a:avLst/>
          </a:prstGeom>
          <a:noFill/>
          <a:ln>
            <a:noFill/>
          </a:ln>
          <a:effectLst>
            <a:outerShdw blurRad="57150" rotWithShape="0" algn="bl" dir="5400000" dist="19050">
              <a:srgbClr val="000000">
                <a:alpha val="49412"/>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 sz="2500" u="none" cap="none" strike="noStrike">
                <a:solidFill>
                  <a:schemeClr val="lt1"/>
                </a:solidFill>
                <a:latin typeface="Rubik SemiBold"/>
                <a:ea typeface="Rubik SemiBold"/>
                <a:cs typeface="Rubik SemiBold"/>
                <a:sym typeface="Rubik SemiBold"/>
              </a:rPr>
              <a:t>Kimia Farma - Big Data Analytics</a:t>
            </a:r>
            <a:endParaRPr b="0" i="0" sz="2500" u="none" cap="none" strike="noStrike">
              <a:solidFill>
                <a:schemeClr val="lt1"/>
              </a:solidFill>
              <a:latin typeface="Rubik SemiBold"/>
              <a:ea typeface="Rubik SemiBold"/>
              <a:cs typeface="Rubik SemiBold"/>
              <a:sym typeface="Rubik SemiBold"/>
            </a:endParaRPr>
          </a:p>
        </p:txBody>
      </p:sp>
      <p:sp>
        <p:nvSpPr>
          <p:cNvPr id="58" name="Google Shape;58;p1"/>
          <p:cNvSpPr/>
          <p:nvPr/>
        </p:nvSpPr>
        <p:spPr>
          <a:xfrm>
            <a:off x="6757125" y="-621925"/>
            <a:ext cx="3135000" cy="30510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
          <p:cNvSpPr txBox="1"/>
          <p:nvPr/>
        </p:nvSpPr>
        <p:spPr>
          <a:xfrm>
            <a:off x="1769125" y="172450"/>
            <a:ext cx="457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chemeClr val="lt1"/>
                </a:solidFill>
                <a:latin typeface="Rubik SemiBold"/>
                <a:ea typeface="Rubik SemiBold"/>
                <a:cs typeface="Rubik SemiBold"/>
                <a:sym typeface="Rubik SemiBold"/>
              </a:rPr>
              <a:t>X</a:t>
            </a:r>
            <a:endParaRPr b="0" i="0" sz="3000" u="none" cap="none" strike="noStrike">
              <a:solidFill>
                <a:schemeClr val="lt1"/>
              </a:solidFill>
              <a:latin typeface="Rubik SemiBold"/>
              <a:ea typeface="Rubik SemiBold"/>
              <a:cs typeface="Rubik SemiBold"/>
              <a:sym typeface="Rubik SemiBold"/>
            </a:endParaRPr>
          </a:p>
        </p:txBody>
      </p:sp>
      <p:sp>
        <p:nvSpPr>
          <p:cNvPr id="60" name="Google Shape;60;p1"/>
          <p:cNvSpPr txBox="1"/>
          <p:nvPr/>
        </p:nvSpPr>
        <p:spPr>
          <a:xfrm>
            <a:off x="517900" y="3699700"/>
            <a:ext cx="5331300" cy="954300"/>
          </a:xfrm>
          <a:prstGeom prst="rect">
            <a:avLst/>
          </a:prstGeom>
          <a:noFill/>
          <a:ln>
            <a:noFill/>
          </a:ln>
          <a:effectLst>
            <a:outerShdw blurRad="57150" rotWithShape="0" algn="bl" dir="5400000" dist="19050">
              <a:srgbClr val="000000">
                <a:alpha val="49412"/>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lt1"/>
                </a:solidFill>
                <a:latin typeface="Rubik Light"/>
                <a:ea typeface="Rubik Light"/>
                <a:cs typeface="Rubik Light"/>
                <a:sym typeface="Rubik Light"/>
              </a:rPr>
              <a:t>Presented by</a:t>
            </a:r>
            <a:endParaRPr b="0" i="0" sz="2000" u="none" cap="none" strike="noStrike">
              <a:solidFill>
                <a:schemeClr val="lt1"/>
              </a:solidFill>
              <a:latin typeface="Rubik Light"/>
              <a:ea typeface="Rubik Light"/>
              <a:cs typeface="Rubik Light"/>
              <a:sym typeface="Rubik Light"/>
            </a:endParaRPr>
          </a:p>
          <a:p>
            <a:pPr indent="0" lvl="0" marL="0" marR="0" rtl="0" algn="l">
              <a:lnSpc>
                <a:spcPct val="100000"/>
              </a:lnSpc>
              <a:spcBef>
                <a:spcPts val="0"/>
              </a:spcBef>
              <a:spcAft>
                <a:spcPts val="0"/>
              </a:spcAft>
              <a:buClr>
                <a:srgbClr val="000000"/>
              </a:buClr>
              <a:buSzPts val="2000"/>
              <a:buFont typeface="Arial"/>
              <a:buNone/>
            </a:pPr>
            <a:r>
              <a:rPr lang="en" sz="3000">
                <a:solidFill>
                  <a:schemeClr val="lt1"/>
                </a:solidFill>
                <a:latin typeface="Rubik Light"/>
                <a:ea typeface="Rubik Light"/>
                <a:cs typeface="Rubik Light"/>
                <a:sym typeface="Rubik Light"/>
              </a:rPr>
              <a:t>Salsabila Tahta Hirani Putri</a:t>
            </a:r>
            <a:endParaRPr b="0" i="0" sz="3000" u="none" cap="none" strike="noStrike">
              <a:solidFill>
                <a:schemeClr val="lt1"/>
              </a:solidFill>
              <a:latin typeface="Rubik Light"/>
              <a:ea typeface="Rubik Light"/>
              <a:cs typeface="Rubik Light"/>
              <a:sym typeface="Rubik Light"/>
            </a:endParaRPr>
          </a:p>
        </p:txBody>
      </p:sp>
      <p:pic>
        <p:nvPicPr>
          <p:cNvPr id="61" name="Google Shape;61;p1"/>
          <p:cNvPicPr preferRelativeResize="0"/>
          <p:nvPr/>
        </p:nvPicPr>
        <p:blipFill rotWithShape="1">
          <a:blip r:embed="rId5">
            <a:alphaModFix/>
          </a:blip>
          <a:srcRect b="0" l="0" r="0" t="0"/>
          <a:stretch/>
        </p:blipFill>
        <p:spPr>
          <a:xfrm>
            <a:off x="2350825" y="133900"/>
            <a:ext cx="1581660" cy="569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3"/>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67" name="Google Shape;67;p3"/>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68" name="Google Shape;68;p3"/>
          <p:cNvSpPr/>
          <p:nvPr/>
        </p:nvSpPr>
        <p:spPr>
          <a:xfrm>
            <a:off x="0" y="0"/>
            <a:ext cx="4572000" cy="5143500"/>
          </a:xfrm>
          <a:prstGeom prst="rect">
            <a:avLst/>
          </a:prstGeom>
          <a:solidFill>
            <a:srgbClr val="019FAB">
              <a:alpha val="4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3"/>
          <p:cNvSpPr/>
          <p:nvPr/>
        </p:nvSpPr>
        <p:spPr>
          <a:xfrm>
            <a:off x="1033575" y="470775"/>
            <a:ext cx="2431800" cy="32988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ubik Medium"/>
              <a:ea typeface="Rubik Medium"/>
              <a:cs typeface="Rubik Medium"/>
              <a:sym typeface="Rubik Medium"/>
            </a:endParaRPr>
          </a:p>
        </p:txBody>
      </p:sp>
      <p:sp>
        <p:nvSpPr>
          <p:cNvPr id="70" name="Google Shape;70;p3"/>
          <p:cNvSpPr txBox="1"/>
          <p:nvPr/>
        </p:nvSpPr>
        <p:spPr>
          <a:xfrm>
            <a:off x="4572050" y="959175"/>
            <a:ext cx="45720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lang="en" sz="2000">
                <a:latin typeface="Rubik SemiBold"/>
                <a:ea typeface="Rubik SemiBold"/>
                <a:cs typeface="Rubik SemiBold"/>
                <a:sym typeface="Rubik SemiBold"/>
              </a:rPr>
              <a:t>Salsabila Tahta Hirani Putri</a:t>
            </a:r>
            <a:endParaRPr b="0" i="0" sz="2000" u="none" cap="none" strike="noStrike">
              <a:solidFill>
                <a:srgbClr val="000000"/>
              </a:solidFill>
              <a:latin typeface="Rubik SemiBold"/>
              <a:ea typeface="Rubik SemiBold"/>
              <a:cs typeface="Rubik SemiBold"/>
              <a:sym typeface="Rubik SemiBold"/>
            </a:endParaRPr>
          </a:p>
        </p:txBody>
      </p:sp>
      <p:sp>
        <p:nvSpPr>
          <p:cNvPr id="71" name="Google Shape;71;p3"/>
          <p:cNvSpPr txBox="1"/>
          <p:nvPr/>
        </p:nvSpPr>
        <p:spPr>
          <a:xfrm>
            <a:off x="4572000" y="1451775"/>
            <a:ext cx="45720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19FAB"/>
                </a:solidFill>
                <a:latin typeface="Rubik SemiBold"/>
                <a:ea typeface="Rubik SemiBold"/>
                <a:cs typeface="Rubik SemiBold"/>
                <a:sym typeface="Rubik SemiBold"/>
              </a:rPr>
              <a:t>Data Analytics Enthusiast</a:t>
            </a:r>
            <a:endParaRPr b="0" i="0" sz="2000" u="none" cap="none" strike="noStrike">
              <a:solidFill>
                <a:srgbClr val="019FAB"/>
              </a:solidFill>
              <a:latin typeface="Rubik SemiBold"/>
              <a:ea typeface="Rubik SemiBold"/>
              <a:cs typeface="Rubik SemiBold"/>
              <a:sym typeface="Rubik SemiBold"/>
            </a:endParaRPr>
          </a:p>
        </p:txBody>
      </p:sp>
      <p:sp>
        <p:nvSpPr>
          <p:cNvPr id="72" name="Google Shape;72;p3"/>
          <p:cNvSpPr txBox="1"/>
          <p:nvPr/>
        </p:nvSpPr>
        <p:spPr>
          <a:xfrm>
            <a:off x="4942700" y="2096775"/>
            <a:ext cx="3861600" cy="23859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rgbClr val="000000"/>
              </a:buClr>
              <a:buSzPts val="2000"/>
              <a:buFont typeface="Arial"/>
              <a:buNone/>
            </a:pPr>
            <a:r>
              <a:rPr lang="en" sz="1100">
                <a:latin typeface="Rubik Medium"/>
                <a:ea typeface="Rubik Medium"/>
                <a:cs typeface="Rubik Medium"/>
                <a:sym typeface="Rubik Medium"/>
              </a:rPr>
              <a:t>Lulusan Sistem Informasi dengan minat di bidang data analytics. Memiliki pengalaman mengolah data menggunakan SQL di Google BigQuery, membuat visualisasi data dengan Looker Studio, serta menyusun dashboard interaktif untuk menghasilkan insight yang mendukung pengambilan keputusan bisnis. Memiliki semangat belajar yang tinggi dan siap mengembangkan kemampuan di bidang data analytics. </a:t>
            </a:r>
            <a:endParaRPr b="0" i="0" sz="1100" u="none" cap="none" strike="noStrike">
              <a:solidFill>
                <a:srgbClr val="000000"/>
              </a:solidFill>
              <a:latin typeface="Rubik Medium"/>
              <a:ea typeface="Rubik Medium"/>
              <a:cs typeface="Rubik Medium"/>
              <a:sym typeface="Rubik Medium"/>
            </a:endParaRPr>
          </a:p>
        </p:txBody>
      </p:sp>
      <p:sp>
        <p:nvSpPr>
          <p:cNvPr id="73" name="Google Shape;73;p3"/>
          <p:cNvSpPr txBox="1"/>
          <p:nvPr/>
        </p:nvSpPr>
        <p:spPr>
          <a:xfrm>
            <a:off x="700000" y="3928325"/>
            <a:ext cx="35046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2000"/>
              <a:buFont typeface="Arial"/>
              <a:buNone/>
            </a:pPr>
            <a:r>
              <a:rPr lang="en" sz="1200">
                <a:latin typeface="Rubik Medium"/>
                <a:ea typeface="Rubik Medium"/>
                <a:cs typeface="Rubik Medium"/>
                <a:sym typeface="Rubik Medium"/>
              </a:rPr>
              <a:t>Bekasi</a:t>
            </a:r>
            <a:endParaRPr b="0" i="0" sz="1200" u="none" cap="none" strike="noStrike">
              <a:solidFill>
                <a:srgbClr val="000000"/>
              </a:solidFill>
              <a:latin typeface="Rubik Medium"/>
              <a:ea typeface="Rubik Medium"/>
              <a:cs typeface="Rubik Medium"/>
              <a:sym typeface="Rubik Medium"/>
            </a:endParaRPr>
          </a:p>
        </p:txBody>
      </p:sp>
      <p:pic>
        <p:nvPicPr>
          <p:cNvPr id="74" name="Google Shape;74;p3"/>
          <p:cNvPicPr preferRelativeResize="0"/>
          <p:nvPr/>
        </p:nvPicPr>
        <p:blipFill rotWithShape="1">
          <a:blip r:embed="rId5">
            <a:alphaModFix/>
          </a:blip>
          <a:srcRect b="0" l="0" r="0" t="0"/>
          <a:stretch/>
        </p:blipFill>
        <p:spPr>
          <a:xfrm>
            <a:off x="205950" y="4774200"/>
            <a:ext cx="369300" cy="369300"/>
          </a:xfrm>
          <a:prstGeom prst="rect">
            <a:avLst/>
          </a:prstGeom>
          <a:noFill/>
          <a:ln>
            <a:noFill/>
          </a:ln>
        </p:spPr>
      </p:pic>
      <p:pic>
        <p:nvPicPr>
          <p:cNvPr id="75" name="Google Shape;75;p3"/>
          <p:cNvPicPr preferRelativeResize="0"/>
          <p:nvPr/>
        </p:nvPicPr>
        <p:blipFill rotWithShape="1">
          <a:blip r:embed="rId6">
            <a:alphaModFix/>
          </a:blip>
          <a:srcRect b="0" l="0" r="0" t="0"/>
          <a:stretch/>
        </p:blipFill>
        <p:spPr>
          <a:xfrm>
            <a:off x="190500" y="3912875"/>
            <a:ext cx="400201" cy="400201"/>
          </a:xfrm>
          <a:prstGeom prst="rect">
            <a:avLst/>
          </a:prstGeom>
          <a:noFill/>
          <a:ln>
            <a:noFill/>
          </a:ln>
        </p:spPr>
      </p:pic>
      <p:pic>
        <p:nvPicPr>
          <p:cNvPr id="76" name="Google Shape;76;p3"/>
          <p:cNvPicPr preferRelativeResize="0"/>
          <p:nvPr/>
        </p:nvPicPr>
        <p:blipFill rotWithShape="1">
          <a:blip r:embed="rId7">
            <a:alphaModFix/>
          </a:blip>
          <a:srcRect b="0" l="0" r="0" t="0"/>
          <a:stretch/>
        </p:blipFill>
        <p:spPr>
          <a:xfrm>
            <a:off x="199296" y="4411877"/>
            <a:ext cx="369300" cy="263511"/>
          </a:xfrm>
          <a:prstGeom prst="rect">
            <a:avLst/>
          </a:prstGeom>
          <a:noFill/>
          <a:ln>
            <a:noFill/>
          </a:ln>
        </p:spPr>
      </p:pic>
      <p:sp>
        <p:nvSpPr>
          <p:cNvPr id="77" name="Google Shape;77;p3"/>
          <p:cNvSpPr txBox="1"/>
          <p:nvPr/>
        </p:nvSpPr>
        <p:spPr>
          <a:xfrm>
            <a:off x="700000" y="4750550"/>
            <a:ext cx="3740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2000"/>
              <a:buFont typeface="Arial"/>
              <a:buNone/>
            </a:pPr>
            <a:r>
              <a:rPr lang="en" sz="1200">
                <a:latin typeface="Rubik Medium"/>
                <a:ea typeface="Rubik Medium"/>
                <a:cs typeface="Rubik Medium"/>
                <a:sym typeface="Rubik Medium"/>
              </a:rPr>
              <a:t>https://www.linkedin.com/in/salsabilathputri/</a:t>
            </a:r>
            <a:endParaRPr b="0" i="0" sz="1200" u="none" cap="none" strike="noStrike">
              <a:solidFill>
                <a:srgbClr val="000000"/>
              </a:solidFill>
              <a:latin typeface="Rubik Medium"/>
              <a:ea typeface="Rubik Medium"/>
              <a:cs typeface="Rubik Medium"/>
              <a:sym typeface="Rubik Medium"/>
            </a:endParaRPr>
          </a:p>
        </p:txBody>
      </p:sp>
      <p:sp>
        <p:nvSpPr>
          <p:cNvPr id="78" name="Google Shape;78;p3"/>
          <p:cNvSpPr txBox="1"/>
          <p:nvPr/>
        </p:nvSpPr>
        <p:spPr>
          <a:xfrm>
            <a:off x="700000" y="4358988"/>
            <a:ext cx="35046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2000"/>
              <a:buFont typeface="Arial"/>
              <a:buNone/>
            </a:pPr>
            <a:r>
              <a:rPr lang="en" sz="1200">
                <a:latin typeface="Rubik Medium"/>
                <a:ea typeface="Rubik Medium"/>
                <a:cs typeface="Rubik Medium"/>
                <a:sym typeface="Rubik Medium"/>
              </a:rPr>
              <a:t>salsabilathputri@gmail.com</a:t>
            </a:r>
            <a:endParaRPr b="0" i="0" sz="1200" u="none" cap="none" strike="noStrike">
              <a:solidFill>
                <a:srgbClr val="000000"/>
              </a:solidFill>
              <a:latin typeface="Rubik Medium"/>
              <a:ea typeface="Rubik Medium"/>
              <a:cs typeface="Rubik Medium"/>
              <a:sym typeface="Rubik Medium"/>
            </a:endParaRPr>
          </a:p>
        </p:txBody>
      </p:sp>
      <p:pic>
        <p:nvPicPr>
          <p:cNvPr id="79" name="Google Shape;79;p3" title="pas foto 472-708.jpg"/>
          <p:cNvPicPr preferRelativeResize="0"/>
          <p:nvPr/>
        </p:nvPicPr>
        <p:blipFill rotWithShape="1">
          <a:blip r:embed="rId8">
            <a:alphaModFix/>
          </a:blip>
          <a:srcRect b="9560" l="0" r="0" t="0"/>
          <a:stretch/>
        </p:blipFill>
        <p:spPr>
          <a:xfrm>
            <a:off x="1033575" y="470775"/>
            <a:ext cx="2431799" cy="3298800"/>
          </a:xfrm>
          <a:prstGeom prst="rect">
            <a:avLst/>
          </a:prstGeom>
          <a:solidFill>
            <a:schemeClr val="accent4"/>
          </a:solid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4"/>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85" name="Google Shape;85;p4"/>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86" name="Google Shape;86;p4"/>
          <p:cNvSpPr txBox="1"/>
          <p:nvPr/>
        </p:nvSpPr>
        <p:spPr>
          <a:xfrm>
            <a:off x="340500" y="1939625"/>
            <a:ext cx="4231500" cy="226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PT Kimia Farma Tbk</a:t>
            </a:r>
            <a:r>
              <a:rPr lang="en" sz="1100">
                <a:solidFill>
                  <a:schemeClr val="dk1"/>
                </a:solidFill>
              </a:rPr>
              <a:t> merupakan perusahaan farmasi pertama di Indonesia yang berdiri sejak tahun 1817 dan merupakan bagian dari Badan Usaha Milik Negara (BUMN). Kimia Farma bergerak di bidang manufaktur farmasi, distribusi, layanan kesehatan, serta jaringan apotek yang tersebar di seluruh Indonesia.</a:t>
            </a:r>
            <a:endParaRPr sz="11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sz="1100">
                <a:solidFill>
                  <a:schemeClr val="dk1"/>
                </a:solidFill>
              </a:rPr>
              <a:t>Sebagai perusahaan dengan jaringan bisnis yang luas, Kimia Farma menghasilkan data transaksi dalam jumlah besar yang dapat dimanfaatkan untuk mendukung pengambilan keputusan bisnis melalui analisis data.</a:t>
            </a:r>
            <a:endParaRPr b="1" sz="1100">
              <a:solidFill>
                <a:schemeClr val="dk1"/>
              </a:solidFill>
            </a:endParaRPr>
          </a:p>
        </p:txBody>
      </p:sp>
      <p:sp>
        <p:nvSpPr>
          <p:cNvPr id="87" name="Google Shape;87;p4"/>
          <p:cNvSpPr txBox="1"/>
          <p:nvPr/>
        </p:nvSpPr>
        <p:spPr>
          <a:xfrm>
            <a:off x="340500" y="452038"/>
            <a:ext cx="8463000" cy="6465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000"/>
              <a:buFont typeface="Arial"/>
              <a:buNone/>
            </a:pPr>
            <a:r>
              <a:rPr b="1" i="0" lang="en" sz="3000" u="none" cap="none" strike="noStrike">
                <a:solidFill>
                  <a:srgbClr val="000000"/>
                </a:solidFill>
                <a:latin typeface="Rubik"/>
                <a:ea typeface="Rubik"/>
                <a:cs typeface="Rubik"/>
                <a:sym typeface="Rubik"/>
              </a:rPr>
              <a:t>About </a:t>
            </a:r>
            <a:r>
              <a:rPr b="1" i="0" lang="en" sz="3000" u="none" cap="none" strike="noStrike">
                <a:solidFill>
                  <a:schemeClr val="accent5"/>
                </a:solidFill>
                <a:latin typeface="Rubik"/>
                <a:ea typeface="Rubik"/>
                <a:cs typeface="Rubik"/>
                <a:sym typeface="Rubik"/>
              </a:rPr>
              <a:t>Company</a:t>
            </a:r>
            <a:endParaRPr b="1" i="0" sz="3000" u="none" cap="none" strike="noStrike">
              <a:solidFill>
                <a:schemeClr val="accent5"/>
              </a:solidFill>
              <a:latin typeface="Rubik"/>
              <a:ea typeface="Rubik"/>
              <a:cs typeface="Rubik"/>
              <a:sym typeface="Rubik"/>
            </a:endParaRPr>
          </a:p>
        </p:txBody>
      </p:sp>
      <p:pic>
        <p:nvPicPr>
          <p:cNvPr id="88" name="Google Shape;88;p4"/>
          <p:cNvPicPr preferRelativeResize="0"/>
          <p:nvPr/>
        </p:nvPicPr>
        <p:blipFill rotWithShape="1">
          <a:blip r:embed="rId5">
            <a:alphaModFix/>
          </a:blip>
          <a:srcRect b="0" l="0" r="0" t="0"/>
          <a:stretch/>
        </p:blipFill>
        <p:spPr>
          <a:xfrm>
            <a:off x="4881525" y="1942269"/>
            <a:ext cx="3835974" cy="1377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g265ee868302_0_99"/>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94" name="Google Shape;94;g265ee868302_0_99"/>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95" name="Google Shape;95;g265ee868302_0_99"/>
          <p:cNvSpPr txBox="1"/>
          <p:nvPr/>
        </p:nvSpPr>
        <p:spPr>
          <a:xfrm>
            <a:off x="340500" y="147238"/>
            <a:ext cx="8463000" cy="6465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000"/>
              <a:buFont typeface="Arial"/>
              <a:buNone/>
            </a:pPr>
            <a:r>
              <a:rPr b="1" i="0" lang="en" sz="3000" u="none" cap="none" strike="noStrike">
                <a:solidFill>
                  <a:srgbClr val="000000"/>
                </a:solidFill>
                <a:latin typeface="Rubik"/>
                <a:ea typeface="Rubik"/>
                <a:cs typeface="Rubik"/>
                <a:sym typeface="Rubik"/>
              </a:rPr>
              <a:t>Project </a:t>
            </a:r>
            <a:r>
              <a:rPr b="1" i="0" lang="en" sz="3000" u="none" cap="none" strike="noStrike">
                <a:solidFill>
                  <a:schemeClr val="accent5"/>
                </a:solidFill>
                <a:latin typeface="Rubik"/>
                <a:ea typeface="Rubik"/>
                <a:cs typeface="Rubik"/>
                <a:sym typeface="Rubik"/>
              </a:rPr>
              <a:t>Portfolio</a:t>
            </a:r>
            <a:endParaRPr b="1" i="0" sz="3000" u="none" cap="none" strike="noStrike">
              <a:solidFill>
                <a:schemeClr val="accent5"/>
              </a:solidFill>
              <a:latin typeface="Rubik"/>
              <a:ea typeface="Rubik"/>
              <a:cs typeface="Rubik"/>
              <a:sym typeface="Rubik"/>
            </a:endParaRPr>
          </a:p>
        </p:txBody>
      </p:sp>
      <p:sp>
        <p:nvSpPr>
          <p:cNvPr id="96" name="Google Shape;96;g265ee868302_0_99"/>
          <p:cNvSpPr txBox="1"/>
          <p:nvPr/>
        </p:nvSpPr>
        <p:spPr>
          <a:xfrm>
            <a:off x="6054900" y="4672650"/>
            <a:ext cx="3089100" cy="3693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chemeClr val="dk1"/>
              </a:buClr>
              <a:buSzPts val="1100"/>
              <a:buFont typeface="Arial"/>
              <a:buNone/>
            </a:pPr>
            <a:r>
              <a:rPr b="1" i="0" lang="en" sz="1200" u="none" cap="none" strike="noStrike">
                <a:solidFill>
                  <a:srgbClr val="000000"/>
                </a:solidFill>
                <a:latin typeface="Rubik"/>
                <a:ea typeface="Rubik"/>
                <a:cs typeface="Rubik"/>
                <a:sym typeface="Rubik"/>
              </a:rPr>
              <a:t>Project explanation video </a:t>
            </a:r>
            <a:r>
              <a:rPr b="1" i="0" lang="en" sz="1200" u="sng" cap="none" strike="noStrike">
                <a:solidFill>
                  <a:schemeClr val="hlink"/>
                </a:solidFill>
                <a:latin typeface="Rubik"/>
                <a:ea typeface="Rubik"/>
                <a:cs typeface="Rubik"/>
                <a:sym typeface="Rubik"/>
                <a:hlinkClick r:id="rId5"/>
              </a:rPr>
              <a:t>here!</a:t>
            </a:r>
            <a:endParaRPr b="1" i="1" sz="1000" u="none" cap="none" strike="noStrike">
              <a:solidFill>
                <a:srgbClr val="000000"/>
              </a:solidFill>
              <a:latin typeface="Rubik"/>
              <a:ea typeface="Rubik"/>
              <a:cs typeface="Rubik"/>
              <a:sym typeface="Rubik"/>
            </a:endParaRPr>
          </a:p>
        </p:txBody>
      </p:sp>
      <p:sp>
        <p:nvSpPr>
          <p:cNvPr id="97" name="Google Shape;97;g265ee868302_0_99"/>
          <p:cNvSpPr txBox="1"/>
          <p:nvPr>
            <p:ph idx="4294967295" type="body"/>
          </p:nvPr>
        </p:nvSpPr>
        <p:spPr>
          <a:xfrm>
            <a:off x="608850" y="822300"/>
            <a:ext cx="8016600" cy="1095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400">
                <a:solidFill>
                  <a:schemeClr val="dk1"/>
                </a:solidFill>
                <a:latin typeface="Rubik"/>
                <a:ea typeface="Rubik"/>
                <a:cs typeface="Rubik"/>
                <a:sym typeface="Rubik"/>
              </a:rPr>
              <a:t>Project Background</a:t>
            </a:r>
            <a:endParaRPr sz="1400">
              <a:solidFill>
                <a:schemeClr val="dk1"/>
              </a:solidFill>
              <a:latin typeface="Rubik"/>
              <a:ea typeface="Rubik"/>
              <a:cs typeface="Rubik"/>
              <a:sym typeface="Rubik"/>
            </a:endParaRPr>
          </a:p>
          <a:p>
            <a:pPr indent="0" lvl="0" marL="0" rtl="0" algn="l">
              <a:lnSpc>
                <a:spcPct val="100000"/>
              </a:lnSpc>
              <a:spcBef>
                <a:spcPts val="1200"/>
              </a:spcBef>
              <a:spcAft>
                <a:spcPts val="1200"/>
              </a:spcAft>
              <a:buNone/>
            </a:pPr>
            <a:r>
              <a:rPr lang="en" sz="1100">
                <a:solidFill>
                  <a:schemeClr val="dk1"/>
                </a:solidFill>
              </a:rPr>
              <a:t>Dalam proyek ini dilakukan analisis terhadap data transaksi Kimia Farma periode </a:t>
            </a:r>
            <a:r>
              <a:rPr b="1" lang="en" sz="1100">
                <a:solidFill>
                  <a:schemeClr val="dk1"/>
                </a:solidFill>
              </a:rPr>
              <a:t>2020–2023</a:t>
            </a:r>
            <a:r>
              <a:rPr lang="en" sz="1100">
                <a:solidFill>
                  <a:schemeClr val="dk1"/>
                </a:solidFill>
              </a:rPr>
              <a:t> menggunakan Google BigQuery dan Looker Studio. Hasil analisis divisualisasikan dalam dashboard interaktif untuk mempermudah monitoring performa bisnis perusahaan. </a:t>
            </a:r>
            <a:endParaRPr sz="1400">
              <a:solidFill>
                <a:schemeClr val="dk1"/>
              </a:solidFill>
              <a:latin typeface="Rubik"/>
              <a:ea typeface="Rubik"/>
              <a:cs typeface="Rubik"/>
              <a:sym typeface="Rubik"/>
            </a:endParaRPr>
          </a:p>
        </p:txBody>
      </p:sp>
      <p:sp>
        <p:nvSpPr>
          <p:cNvPr id="98" name="Google Shape;98;g265ee868302_0_99"/>
          <p:cNvSpPr txBox="1"/>
          <p:nvPr/>
        </p:nvSpPr>
        <p:spPr>
          <a:xfrm>
            <a:off x="4857775" y="2021225"/>
            <a:ext cx="3000000" cy="1169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a:solidFill>
                  <a:schemeClr val="dk1"/>
                </a:solidFill>
                <a:latin typeface="Rubik"/>
                <a:ea typeface="Rubik"/>
                <a:cs typeface="Rubik"/>
                <a:sym typeface="Rubik"/>
              </a:rPr>
              <a:t>Available Dataset</a:t>
            </a:r>
            <a:r>
              <a:rPr lang="en">
                <a:solidFill>
                  <a:schemeClr val="dk1"/>
                </a:solidFill>
                <a:latin typeface="Rubik"/>
                <a:ea typeface="Rubik"/>
                <a:cs typeface="Rubik"/>
                <a:sym typeface="Rubik"/>
              </a:rPr>
              <a:t> </a:t>
            </a:r>
            <a:endParaRPr>
              <a:solidFill>
                <a:schemeClr val="dk1"/>
              </a:solidFill>
              <a:latin typeface="Rubik"/>
              <a:ea typeface="Rubik"/>
              <a:cs typeface="Rubik"/>
              <a:sym typeface="Rubik"/>
            </a:endParaRPr>
          </a:p>
          <a:p>
            <a:pPr indent="-292100" lvl="0" marL="457200" rtl="0" algn="l">
              <a:spcBef>
                <a:spcPts val="1200"/>
              </a:spcBef>
              <a:spcAft>
                <a:spcPts val="0"/>
              </a:spcAft>
              <a:buClr>
                <a:schemeClr val="dk1"/>
              </a:buClr>
              <a:buSzPts val="1000"/>
              <a:buFont typeface="Rubik"/>
              <a:buChar char="●"/>
            </a:pPr>
            <a:r>
              <a:rPr lang="en" sz="1000">
                <a:solidFill>
                  <a:schemeClr val="dk1"/>
                </a:solidFill>
                <a:latin typeface="Rubik"/>
                <a:ea typeface="Rubik"/>
                <a:cs typeface="Rubik"/>
                <a:sym typeface="Rubik"/>
              </a:rPr>
              <a:t>Transaction Data</a:t>
            </a:r>
            <a:endParaRPr sz="1000">
              <a:solidFill>
                <a:schemeClr val="dk1"/>
              </a:solidFill>
              <a:latin typeface="Rubik"/>
              <a:ea typeface="Rubik"/>
              <a:cs typeface="Rubik"/>
              <a:sym typeface="Rubik"/>
            </a:endParaRPr>
          </a:p>
          <a:p>
            <a:pPr indent="-292100" lvl="0" marL="457200" rtl="0" algn="l">
              <a:spcBef>
                <a:spcPts val="0"/>
              </a:spcBef>
              <a:spcAft>
                <a:spcPts val="0"/>
              </a:spcAft>
              <a:buClr>
                <a:schemeClr val="dk1"/>
              </a:buClr>
              <a:buSzPts val="1000"/>
              <a:buFont typeface="Rubik"/>
              <a:buChar char="●"/>
            </a:pPr>
            <a:r>
              <a:rPr lang="en" sz="1000">
                <a:solidFill>
                  <a:schemeClr val="dk1"/>
                </a:solidFill>
                <a:latin typeface="Rubik"/>
                <a:ea typeface="Rubik"/>
                <a:cs typeface="Rubik"/>
                <a:sym typeface="Rubik"/>
              </a:rPr>
              <a:t>Product Data</a:t>
            </a:r>
            <a:endParaRPr sz="1000">
              <a:solidFill>
                <a:schemeClr val="dk1"/>
              </a:solidFill>
              <a:latin typeface="Rubik"/>
              <a:ea typeface="Rubik"/>
              <a:cs typeface="Rubik"/>
              <a:sym typeface="Rubik"/>
            </a:endParaRPr>
          </a:p>
          <a:p>
            <a:pPr indent="-292100" lvl="0" marL="457200" rtl="0" algn="l">
              <a:spcBef>
                <a:spcPts val="0"/>
              </a:spcBef>
              <a:spcAft>
                <a:spcPts val="0"/>
              </a:spcAft>
              <a:buClr>
                <a:schemeClr val="dk1"/>
              </a:buClr>
              <a:buSzPts val="1000"/>
              <a:buFont typeface="Rubik"/>
              <a:buChar char="●"/>
            </a:pPr>
            <a:r>
              <a:rPr lang="en" sz="1000">
                <a:solidFill>
                  <a:schemeClr val="dk1"/>
                </a:solidFill>
                <a:latin typeface="Rubik"/>
                <a:ea typeface="Rubik"/>
                <a:cs typeface="Rubik"/>
                <a:sym typeface="Rubik"/>
              </a:rPr>
              <a:t>Branch Data</a:t>
            </a:r>
            <a:endParaRPr sz="1000">
              <a:solidFill>
                <a:schemeClr val="dk1"/>
              </a:solidFill>
              <a:latin typeface="Rubik"/>
              <a:ea typeface="Rubik"/>
              <a:cs typeface="Rubik"/>
              <a:sym typeface="Rubik"/>
            </a:endParaRPr>
          </a:p>
          <a:p>
            <a:pPr indent="-292100" lvl="0" marL="457200" rtl="0" algn="l">
              <a:spcBef>
                <a:spcPts val="0"/>
              </a:spcBef>
              <a:spcAft>
                <a:spcPts val="0"/>
              </a:spcAft>
              <a:buClr>
                <a:schemeClr val="dk1"/>
              </a:buClr>
              <a:buSzPts val="1000"/>
              <a:buFont typeface="Rubik"/>
              <a:buChar char="●"/>
            </a:pPr>
            <a:r>
              <a:rPr lang="en" sz="1000">
                <a:solidFill>
                  <a:schemeClr val="dk1"/>
                </a:solidFill>
                <a:latin typeface="Rubik"/>
                <a:ea typeface="Rubik"/>
                <a:cs typeface="Rubik"/>
                <a:sym typeface="Rubik"/>
              </a:rPr>
              <a:t>Inventory Data</a:t>
            </a:r>
            <a:endParaRPr sz="1000">
              <a:solidFill>
                <a:schemeClr val="dk1"/>
              </a:solidFill>
              <a:latin typeface="Rubik"/>
              <a:ea typeface="Rubik"/>
              <a:cs typeface="Rubik"/>
              <a:sym typeface="Rubik"/>
            </a:endParaRPr>
          </a:p>
        </p:txBody>
      </p:sp>
      <p:sp>
        <p:nvSpPr>
          <p:cNvPr id="99" name="Google Shape;99;g265ee868302_0_99"/>
          <p:cNvSpPr txBox="1"/>
          <p:nvPr/>
        </p:nvSpPr>
        <p:spPr>
          <a:xfrm>
            <a:off x="608850" y="2021225"/>
            <a:ext cx="3898200" cy="22866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a:solidFill>
                  <a:schemeClr val="dk1"/>
                </a:solidFill>
                <a:latin typeface="Rubik"/>
                <a:ea typeface="Rubik"/>
                <a:cs typeface="Rubik"/>
                <a:sym typeface="Rubik"/>
              </a:rPr>
              <a:t>Project Objectives</a:t>
            </a:r>
            <a:endParaRPr>
              <a:solidFill>
                <a:schemeClr val="dk1"/>
              </a:solidFill>
              <a:latin typeface="Rubik"/>
              <a:ea typeface="Rubik"/>
              <a:cs typeface="Rubik"/>
              <a:sym typeface="Rubik"/>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Menganalisis performa penjualan dan profit Kimia Farma.</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Mengidentifikasi provinsi dan cabang dengan kontribusi penjualan terbaik.</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Menganalisis tren transaksi dan distribusi profit.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Membangun dashboard interaktif sebagai media monitoring bisnis.</a:t>
            </a:r>
            <a:endParaRPr sz="1100">
              <a:solidFill>
                <a:schemeClr val="dk1"/>
              </a:solidFill>
            </a:endParaRPr>
          </a:p>
          <a:p>
            <a:pPr indent="0" lvl="0" marL="0" rtl="0" algn="l">
              <a:lnSpc>
                <a:spcPct val="100000"/>
              </a:lnSpc>
              <a:spcBef>
                <a:spcPts val="1200"/>
              </a:spcBef>
              <a:spcAft>
                <a:spcPts val="1200"/>
              </a:spcAft>
              <a:buNone/>
            </a:pPr>
            <a:r>
              <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g23ec2985a68_1_33"/>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05" name="Google Shape;105;g23ec2985a68_1_33"/>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106" name="Google Shape;106;g23ec2985a68_1_33"/>
          <p:cNvSpPr txBox="1"/>
          <p:nvPr/>
        </p:nvSpPr>
        <p:spPr>
          <a:xfrm>
            <a:off x="340500" y="452038"/>
            <a:ext cx="8463000" cy="6003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400050" lvl="0" marL="457200" marR="0" rtl="0" algn="l">
              <a:lnSpc>
                <a:spcPct val="100000"/>
              </a:lnSpc>
              <a:spcBef>
                <a:spcPts val="0"/>
              </a:spcBef>
              <a:spcAft>
                <a:spcPts val="0"/>
              </a:spcAft>
              <a:buClr>
                <a:srgbClr val="000000"/>
              </a:buClr>
              <a:buSzPts val="2700"/>
              <a:buFont typeface="Rubik"/>
              <a:buAutoNum type="arabicPeriod"/>
            </a:pPr>
            <a:r>
              <a:rPr b="1" i="0" lang="en" sz="2700" u="none" cap="none" strike="noStrike">
                <a:solidFill>
                  <a:srgbClr val="000000"/>
                </a:solidFill>
                <a:latin typeface="Rubik"/>
                <a:ea typeface="Rubik"/>
                <a:cs typeface="Rubik"/>
                <a:sym typeface="Rubik"/>
              </a:rPr>
              <a:t>Importing Dataset to BigQuery</a:t>
            </a:r>
            <a:endParaRPr b="1" i="0" sz="2700" u="none" cap="none" strike="noStrike">
              <a:solidFill>
                <a:srgbClr val="000000"/>
              </a:solidFill>
              <a:latin typeface="Rubik"/>
              <a:ea typeface="Rubik"/>
              <a:cs typeface="Rubik"/>
              <a:sym typeface="Rubik"/>
            </a:endParaRPr>
          </a:p>
        </p:txBody>
      </p:sp>
      <p:sp>
        <p:nvSpPr>
          <p:cNvPr id="107" name="Google Shape;107;g23ec2985a68_1_33"/>
          <p:cNvSpPr txBox="1"/>
          <p:nvPr/>
        </p:nvSpPr>
        <p:spPr>
          <a:xfrm>
            <a:off x="340500" y="1052350"/>
            <a:ext cx="3430800" cy="11982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Objective</a:t>
            </a:r>
            <a:endParaRPr b="1" sz="17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sz="1100">
                <a:solidFill>
                  <a:schemeClr val="dk1"/>
                </a:solidFill>
              </a:rPr>
              <a:t>Mengintegrasikan seluruh dataset Kimia Farma ke Google BigQuery sebagai data warehouse untuk proses analisis.</a:t>
            </a:r>
            <a:endParaRPr sz="1200">
              <a:solidFill>
                <a:schemeClr val="dk1"/>
              </a:solidFill>
              <a:latin typeface="Rubik"/>
              <a:ea typeface="Rubik"/>
              <a:cs typeface="Rubik"/>
              <a:sym typeface="Rubik"/>
            </a:endParaRPr>
          </a:p>
        </p:txBody>
      </p:sp>
      <p:pic>
        <p:nvPicPr>
          <p:cNvPr id="108" name="Google Shape;108;g23ec2985a68_1_33"/>
          <p:cNvPicPr preferRelativeResize="0"/>
          <p:nvPr/>
        </p:nvPicPr>
        <p:blipFill>
          <a:blip r:embed="rId5">
            <a:alphaModFix/>
          </a:blip>
          <a:stretch>
            <a:fillRect/>
          </a:stretch>
        </p:blipFill>
        <p:spPr>
          <a:xfrm>
            <a:off x="340500" y="2717925"/>
            <a:ext cx="5637774" cy="1787700"/>
          </a:xfrm>
          <a:prstGeom prst="rect">
            <a:avLst/>
          </a:prstGeom>
          <a:noFill/>
          <a:ln>
            <a:noFill/>
          </a:ln>
        </p:spPr>
      </p:pic>
      <p:sp>
        <p:nvSpPr>
          <p:cNvPr id="109" name="Google Shape;109;g23ec2985a68_1_33"/>
          <p:cNvSpPr txBox="1"/>
          <p:nvPr/>
        </p:nvSpPr>
        <p:spPr>
          <a:xfrm>
            <a:off x="4788225" y="1052350"/>
            <a:ext cx="4131900" cy="1392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1700">
                <a:solidFill>
                  <a:schemeClr val="dk1"/>
                </a:solidFill>
              </a:rPr>
              <a:t>I</a:t>
            </a:r>
            <a:r>
              <a:rPr b="1" lang="en" sz="1700">
                <a:solidFill>
                  <a:schemeClr val="dk1"/>
                </a:solidFill>
              </a:rPr>
              <a:t>mplementation</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Membuat project dan dataset di Google BigQuery.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Mengimpor empat dataset dalam format CSV.</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Memastikan struktur data dan tipe data telah sesuai.</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Memverifikasi data sebelum proses analisis.</a:t>
            </a:r>
            <a:endParaRPr sz="1200">
              <a:solidFill>
                <a:schemeClr val="dk1"/>
              </a:solidFill>
              <a:latin typeface="Rubik"/>
              <a:ea typeface="Rubik"/>
              <a:cs typeface="Rubik"/>
              <a:sym typeface="Rubik"/>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g23ec2985a68_1_42"/>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15" name="Google Shape;115;g23ec2985a68_1_42"/>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116" name="Google Shape;116;g23ec2985a68_1_42"/>
          <p:cNvSpPr txBox="1"/>
          <p:nvPr/>
        </p:nvSpPr>
        <p:spPr>
          <a:xfrm>
            <a:off x="340500" y="452038"/>
            <a:ext cx="8463000" cy="6003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400050" lvl="0" marL="457200" marR="0" rtl="0" algn="l">
              <a:lnSpc>
                <a:spcPct val="100000"/>
              </a:lnSpc>
              <a:spcBef>
                <a:spcPts val="0"/>
              </a:spcBef>
              <a:spcAft>
                <a:spcPts val="0"/>
              </a:spcAft>
              <a:buClr>
                <a:srgbClr val="000000"/>
              </a:buClr>
              <a:buSzPts val="2700"/>
              <a:buFont typeface="Rubik"/>
              <a:buAutoNum type="arabicPeriod" startAt="2"/>
            </a:pPr>
            <a:r>
              <a:rPr b="1" i="0" lang="en" sz="2700" u="none" cap="none" strike="noStrike">
                <a:solidFill>
                  <a:srgbClr val="000000"/>
                </a:solidFill>
                <a:latin typeface="Rubik"/>
                <a:ea typeface="Rubik"/>
                <a:cs typeface="Rubik"/>
                <a:sym typeface="Rubik"/>
              </a:rPr>
              <a:t>Tabel Analisa</a:t>
            </a:r>
            <a:endParaRPr b="1" i="0" sz="2700" u="none" cap="none" strike="noStrike">
              <a:solidFill>
                <a:srgbClr val="000000"/>
              </a:solidFill>
              <a:latin typeface="Rubik"/>
              <a:ea typeface="Rubik"/>
              <a:cs typeface="Rubik"/>
              <a:sym typeface="Rubik"/>
            </a:endParaRPr>
          </a:p>
        </p:txBody>
      </p:sp>
      <p:sp>
        <p:nvSpPr>
          <p:cNvPr id="117" name="Google Shape;117;g23ec2985a68_1_42"/>
          <p:cNvSpPr txBox="1"/>
          <p:nvPr/>
        </p:nvSpPr>
        <p:spPr>
          <a:xfrm>
            <a:off x="340500" y="1335950"/>
            <a:ext cx="2916000" cy="35247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0" lvl="0" marL="0" marR="381000" rtl="0" algn="l">
              <a:lnSpc>
                <a:spcPct val="100000"/>
              </a:lnSpc>
              <a:spcBef>
                <a:spcPts val="1200"/>
              </a:spcBef>
              <a:spcAft>
                <a:spcPts val="0"/>
              </a:spcAft>
              <a:buClr>
                <a:schemeClr val="dk1"/>
              </a:buClr>
              <a:buSzPts val="1100"/>
              <a:buFont typeface="Arial"/>
              <a:buNone/>
            </a:pPr>
            <a:r>
              <a:rPr b="1" lang="en" sz="1100">
                <a:solidFill>
                  <a:schemeClr val="dk1"/>
                </a:solidFill>
              </a:rPr>
              <a:t>Objective</a:t>
            </a:r>
            <a:endParaRPr b="1" sz="11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lang="en" sz="1100">
                <a:solidFill>
                  <a:schemeClr val="dk1"/>
                </a:solidFill>
              </a:rPr>
              <a:t>Membangun tabel analisis (</a:t>
            </a:r>
            <a:r>
              <a:rPr i="1" lang="en" sz="1100">
                <a:solidFill>
                  <a:schemeClr val="dk1"/>
                </a:solidFill>
              </a:rPr>
              <a:t>analysis table</a:t>
            </a:r>
            <a:r>
              <a:rPr lang="en" sz="1100">
                <a:solidFill>
                  <a:schemeClr val="dk1"/>
                </a:solidFill>
              </a:rPr>
              <a:t>) yang mengintegrasikan seluruh dataset Kimia Farma menjadi satu sumber data siap analisis.</a:t>
            </a:r>
            <a:endParaRPr sz="1100">
              <a:solidFill>
                <a:schemeClr val="dk1"/>
              </a:solidFill>
            </a:endParaRPr>
          </a:p>
          <a:p>
            <a:pPr indent="0" lvl="0" marL="0" marR="381000" rtl="0" algn="l">
              <a:lnSpc>
                <a:spcPct val="100000"/>
              </a:lnSpc>
              <a:spcBef>
                <a:spcPts val="1200"/>
              </a:spcBef>
              <a:spcAft>
                <a:spcPts val="0"/>
              </a:spcAft>
              <a:buClr>
                <a:schemeClr val="dk1"/>
              </a:buClr>
              <a:buSzPts val="1100"/>
              <a:buFont typeface="Arial"/>
              <a:buNone/>
            </a:pPr>
            <a:r>
              <a:rPr b="1" lang="en" sz="1100">
                <a:solidFill>
                  <a:schemeClr val="dk1"/>
                </a:solidFill>
              </a:rPr>
              <a:t>Data Processing</a:t>
            </a:r>
            <a:endParaRPr b="1" sz="1100">
              <a:solidFill>
                <a:schemeClr val="dk1"/>
              </a:solidFill>
            </a:endParaRPr>
          </a:p>
          <a:p>
            <a:pPr indent="-298450" lvl="0" marL="457200" rtl="0" algn="l">
              <a:lnSpc>
                <a:spcPct val="100000"/>
              </a:lnSpc>
              <a:spcBef>
                <a:spcPts val="1200"/>
              </a:spcBef>
              <a:spcAft>
                <a:spcPts val="0"/>
              </a:spcAft>
              <a:buClr>
                <a:schemeClr val="dk1"/>
              </a:buClr>
              <a:buSzPts val="1100"/>
              <a:buChar char="●"/>
            </a:pPr>
            <a:r>
              <a:rPr lang="en" sz="1100">
                <a:solidFill>
                  <a:schemeClr val="dk1"/>
                </a:solidFill>
              </a:rPr>
              <a:t>Melakukan </a:t>
            </a:r>
            <a:r>
              <a:rPr b="1" lang="en" sz="1100">
                <a:solidFill>
                  <a:schemeClr val="dk1"/>
                </a:solidFill>
              </a:rPr>
              <a:t>JOIN</a:t>
            </a:r>
            <a:r>
              <a:rPr lang="en" sz="1100">
                <a:solidFill>
                  <a:schemeClr val="dk1"/>
                </a:solidFill>
              </a:rPr>
              <a:t> antara tabel transaksi, cabang, produk, dan inventori menggunakan SQL.</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Menghitung metrik bisnis seperti </a:t>
            </a:r>
            <a:r>
              <a:rPr b="1" lang="en" sz="1100">
                <a:solidFill>
                  <a:schemeClr val="dk1"/>
                </a:solidFill>
              </a:rPr>
              <a:t>Net Sales</a:t>
            </a:r>
            <a:r>
              <a:rPr lang="en" sz="1100">
                <a:solidFill>
                  <a:schemeClr val="dk1"/>
                </a:solidFill>
              </a:rPr>
              <a:t> dan </a:t>
            </a:r>
            <a:r>
              <a:rPr b="1" lang="en" sz="1100">
                <a:solidFill>
                  <a:schemeClr val="dk1"/>
                </a:solidFill>
              </a:rPr>
              <a:t>Net Profit</a:t>
            </a:r>
            <a:r>
              <a:rPr lang="en" sz="1100">
                <a:solidFill>
                  <a:schemeClr val="dk1"/>
                </a:solidFill>
              </a:rPr>
              <a:t>.</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Menambahkan atribut lokasi (provinsi dan kota) untuk analisis wilayah.</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 sz="1100">
                <a:solidFill>
                  <a:schemeClr val="dk1"/>
                </a:solidFill>
              </a:rPr>
              <a:t>Menghasilkan satu tabel analisis yang siap digunakan sebagai data source dashboard.</a:t>
            </a:r>
            <a:endParaRPr sz="2000">
              <a:solidFill>
                <a:schemeClr val="dk1"/>
              </a:solidFill>
              <a:latin typeface="Rubik"/>
              <a:ea typeface="Rubik"/>
              <a:cs typeface="Rubik"/>
              <a:sym typeface="Rubik"/>
            </a:endParaRPr>
          </a:p>
        </p:txBody>
      </p:sp>
      <p:sp>
        <p:nvSpPr>
          <p:cNvPr id="118" name="Google Shape;118;g23ec2985a68_1_42"/>
          <p:cNvSpPr txBox="1"/>
          <p:nvPr/>
        </p:nvSpPr>
        <p:spPr>
          <a:xfrm>
            <a:off x="3647825" y="1335950"/>
            <a:ext cx="5069700" cy="897300"/>
          </a:xfrm>
          <a:prstGeom prst="rect">
            <a:avLst/>
          </a:prstGeom>
          <a:noFill/>
          <a:ln>
            <a:noFill/>
          </a:ln>
        </p:spPr>
        <p:txBody>
          <a:bodyPr anchorCtr="0" anchor="t" bIns="91425" lIns="91425" spcFirstLastPara="1" rIns="91425" wrap="square" tIns="91425">
            <a:spAutoFit/>
          </a:bodyPr>
          <a:lstStyle/>
          <a:p>
            <a:pPr indent="0" lvl="0" marL="0" marR="381000" rtl="0" algn="l">
              <a:lnSpc>
                <a:spcPct val="115000"/>
              </a:lnSpc>
              <a:spcBef>
                <a:spcPts val="1200"/>
              </a:spcBef>
              <a:spcAft>
                <a:spcPts val="0"/>
              </a:spcAft>
              <a:buNone/>
            </a:pPr>
            <a:r>
              <a:rPr b="1" lang="en" sz="1100">
                <a:solidFill>
                  <a:schemeClr val="dk1"/>
                </a:solidFill>
              </a:rPr>
              <a:t>Result</a:t>
            </a:r>
            <a:endParaRPr b="1" sz="1100">
              <a:solidFill>
                <a:schemeClr val="dk1"/>
              </a:solidFill>
            </a:endParaRPr>
          </a:p>
          <a:p>
            <a:pPr indent="0" lvl="0" marL="0" rtl="0" algn="l">
              <a:lnSpc>
                <a:spcPct val="115000"/>
              </a:lnSpc>
              <a:spcBef>
                <a:spcPts val="1200"/>
              </a:spcBef>
              <a:spcAft>
                <a:spcPts val="1200"/>
              </a:spcAft>
              <a:buNone/>
            </a:pPr>
            <a:r>
              <a:rPr lang="en" sz="1100">
                <a:solidFill>
                  <a:schemeClr val="dk1"/>
                </a:solidFill>
              </a:rPr>
              <a:t>Tabel analisis berhasil dibuat di BigQuery dan digunakan sebagai sumber utama visualisasi pada Looker Studio.</a:t>
            </a:r>
            <a:endParaRPr/>
          </a:p>
        </p:txBody>
      </p:sp>
      <p:pic>
        <p:nvPicPr>
          <p:cNvPr id="119" name="Google Shape;119;g23ec2985a68_1_42"/>
          <p:cNvPicPr preferRelativeResize="0"/>
          <p:nvPr/>
        </p:nvPicPr>
        <p:blipFill>
          <a:blip r:embed="rId5">
            <a:alphaModFix/>
          </a:blip>
          <a:stretch>
            <a:fillRect/>
          </a:stretch>
        </p:blipFill>
        <p:spPr>
          <a:xfrm>
            <a:off x="3647800" y="2309110"/>
            <a:ext cx="5069699" cy="234071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g23ec2985a68_1_49"/>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25" name="Google Shape;125;g23ec2985a68_1_49"/>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126" name="Google Shape;126;g23ec2985a68_1_49"/>
          <p:cNvSpPr txBox="1"/>
          <p:nvPr/>
        </p:nvSpPr>
        <p:spPr>
          <a:xfrm>
            <a:off x="340500" y="452038"/>
            <a:ext cx="8463000" cy="6003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400050" lvl="0" marL="457200" marR="0" rtl="0" algn="l">
              <a:lnSpc>
                <a:spcPct val="100000"/>
              </a:lnSpc>
              <a:spcBef>
                <a:spcPts val="0"/>
              </a:spcBef>
              <a:spcAft>
                <a:spcPts val="0"/>
              </a:spcAft>
              <a:buClr>
                <a:srgbClr val="000000"/>
              </a:buClr>
              <a:buSzPts val="2700"/>
              <a:buFont typeface="Rubik"/>
              <a:buAutoNum type="arabicPeriod" startAt="3"/>
            </a:pPr>
            <a:r>
              <a:rPr b="1" i="0" lang="en" sz="2700" u="none" cap="none" strike="noStrike">
                <a:solidFill>
                  <a:srgbClr val="000000"/>
                </a:solidFill>
                <a:latin typeface="Rubik"/>
                <a:ea typeface="Rubik"/>
                <a:cs typeface="Rubik"/>
                <a:sym typeface="Rubik"/>
              </a:rPr>
              <a:t>BigQuery Syntax</a:t>
            </a:r>
            <a:endParaRPr b="1" i="0" sz="2700" u="none" cap="none" strike="noStrike">
              <a:solidFill>
                <a:srgbClr val="000000"/>
              </a:solidFill>
              <a:latin typeface="Rubik"/>
              <a:ea typeface="Rubik"/>
              <a:cs typeface="Rubik"/>
              <a:sym typeface="Rubik"/>
            </a:endParaRPr>
          </a:p>
        </p:txBody>
      </p:sp>
      <p:sp>
        <p:nvSpPr>
          <p:cNvPr id="127" name="Google Shape;127;g23ec2985a68_1_49"/>
          <p:cNvSpPr txBox="1"/>
          <p:nvPr/>
        </p:nvSpPr>
        <p:spPr>
          <a:xfrm>
            <a:off x="340500" y="1168625"/>
            <a:ext cx="3726900" cy="36549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0" lvl="0" marL="0" marR="381000" rtl="0" algn="l">
              <a:lnSpc>
                <a:spcPct val="115000"/>
              </a:lnSpc>
              <a:spcBef>
                <a:spcPts val="1200"/>
              </a:spcBef>
              <a:spcAft>
                <a:spcPts val="0"/>
              </a:spcAft>
              <a:buClr>
                <a:schemeClr val="dk1"/>
              </a:buClr>
              <a:buSzPts val="1100"/>
              <a:buFont typeface="Arial"/>
              <a:buNone/>
            </a:pPr>
            <a:r>
              <a:rPr b="1" lang="en" sz="1100">
                <a:solidFill>
                  <a:schemeClr val="dk1"/>
                </a:solidFill>
              </a:rPr>
              <a:t>SQL Implementation</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Query SQL digunakan untuk menggabungkan seluruh dataset serta menghitung metrik bisnis yang diperlukan dalam analisis.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Proses yang dilakukan meliputi:</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JOIN beberapa tabel</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Perhitungan Net Sales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Perhitungan Net Profit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Pengelompokan berdasarkan cabang dan provinsi</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Pembuatan tabel </a:t>
            </a:r>
            <a:r>
              <a:rPr lang="en" sz="1100">
                <a:solidFill>
                  <a:srgbClr val="188038"/>
                </a:solidFill>
                <a:latin typeface="Roboto Mono"/>
                <a:ea typeface="Roboto Mono"/>
                <a:cs typeface="Roboto Mono"/>
                <a:sym typeface="Roboto Mono"/>
              </a:rPr>
              <a:t>kf_analysis</a:t>
            </a:r>
            <a:endParaRPr sz="1100">
              <a:solidFill>
                <a:srgbClr val="188038"/>
              </a:solidFill>
              <a:latin typeface="Roboto Mono"/>
              <a:ea typeface="Roboto Mono"/>
              <a:cs typeface="Roboto Mono"/>
              <a:sym typeface="Roboto Mono"/>
            </a:endParaRPr>
          </a:p>
          <a:p>
            <a:pPr indent="0" lvl="0" marL="0" marR="381000" rtl="0" algn="l">
              <a:lnSpc>
                <a:spcPct val="115000"/>
              </a:lnSpc>
              <a:spcBef>
                <a:spcPts val="1200"/>
              </a:spcBef>
              <a:spcAft>
                <a:spcPts val="0"/>
              </a:spcAft>
              <a:buClr>
                <a:schemeClr val="dk1"/>
              </a:buClr>
              <a:buSzPts val="1100"/>
              <a:buFont typeface="Arial"/>
              <a:buNone/>
            </a:pPr>
            <a:r>
              <a:rPr b="1" lang="en" sz="1100">
                <a:solidFill>
                  <a:schemeClr val="dk1"/>
                </a:solidFill>
              </a:rPr>
              <a:t>Result</a:t>
            </a:r>
            <a:endParaRPr b="1" sz="11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sz="1100">
                <a:solidFill>
                  <a:schemeClr val="dk1"/>
                </a:solidFill>
              </a:rPr>
              <a:t>SQL berhasil menghasilkan dataset terintegrasi yang menjadi data source dashboard analitik.</a:t>
            </a:r>
            <a:endParaRPr sz="2000">
              <a:solidFill>
                <a:schemeClr val="dk1"/>
              </a:solidFill>
              <a:latin typeface="Rubik"/>
              <a:ea typeface="Rubik"/>
              <a:cs typeface="Rubik"/>
              <a:sym typeface="Rubik"/>
            </a:endParaRPr>
          </a:p>
        </p:txBody>
      </p:sp>
      <p:pic>
        <p:nvPicPr>
          <p:cNvPr id="128" name="Google Shape;128;g23ec2985a68_1_49"/>
          <p:cNvPicPr preferRelativeResize="0"/>
          <p:nvPr/>
        </p:nvPicPr>
        <p:blipFill>
          <a:blip r:embed="rId5">
            <a:alphaModFix/>
          </a:blip>
          <a:stretch>
            <a:fillRect/>
          </a:stretch>
        </p:blipFill>
        <p:spPr>
          <a:xfrm>
            <a:off x="5047125" y="3188825"/>
            <a:ext cx="3603976" cy="1627175"/>
          </a:xfrm>
          <a:prstGeom prst="rect">
            <a:avLst/>
          </a:prstGeom>
          <a:noFill/>
          <a:ln>
            <a:noFill/>
          </a:ln>
        </p:spPr>
      </p:pic>
      <p:pic>
        <p:nvPicPr>
          <p:cNvPr id="129" name="Google Shape;129;g23ec2985a68_1_49"/>
          <p:cNvPicPr preferRelativeResize="0"/>
          <p:nvPr/>
        </p:nvPicPr>
        <p:blipFill>
          <a:blip r:embed="rId6">
            <a:alphaModFix/>
          </a:blip>
          <a:stretch>
            <a:fillRect/>
          </a:stretch>
        </p:blipFill>
        <p:spPr>
          <a:xfrm>
            <a:off x="5047116" y="726924"/>
            <a:ext cx="2174584" cy="2461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g23ec2985a68_1_56"/>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35" name="Google Shape;135;g23ec2985a68_1_56"/>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136" name="Google Shape;136;g23ec2985a68_1_56"/>
          <p:cNvSpPr txBox="1"/>
          <p:nvPr/>
        </p:nvSpPr>
        <p:spPr>
          <a:xfrm>
            <a:off x="340500" y="452038"/>
            <a:ext cx="8463000" cy="6003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400050" lvl="0" marL="457200" marR="0" rtl="0" algn="l">
              <a:lnSpc>
                <a:spcPct val="100000"/>
              </a:lnSpc>
              <a:spcBef>
                <a:spcPts val="0"/>
              </a:spcBef>
              <a:spcAft>
                <a:spcPts val="0"/>
              </a:spcAft>
              <a:buClr>
                <a:srgbClr val="000000"/>
              </a:buClr>
              <a:buSzPts val="2700"/>
              <a:buFont typeface="Rubik"/>
              <a:buAutoNum type="arabicPeriod" startAt="4"/>
            </a:pPr>
            <a:r>
              <a:rPr b="1" i="0" lang="en" sz="2700" u="none" cap="none" strike="noStrike">
                <a:solidFill>
                  <a:srgbClr val="000000"/>
                </a:solidFill>
                <a:latin typeface="Rubik"/>
                <a:ea typeface="Rubik"/>
                <a:cs typeface="Rubik"/>
                <a:sym typeface="Rubik"/>
              </a:rPr>
              <a:t>Dashboard  Performance Analytics</a:t>
            </a:r>
            <a:endParaRPr b="1" i="0" sz="2700" u="none" cap="none" strike="noStrike">
              <a:solidFill>
                <a:srgbClr val="000000"/>
              </a:solidFill>
              <a:latin typeface="Rubik"/>
              <a:ea typeface="Rubik"/>
              <a:cs typeface="Rubik"/>
              <a:sym typeface="Rubik"/>
            </a:endParaRPr>
          </a:p>
        </p:txBody>
      </p:sp>
      <p:pic>
        <p:nvPicPr>
          <p:cNvPr id="137" name="Google Shape;137;g23ec2985a68_1_56"/>
          <p:cNvPicPr preferRelativeResize="0"/>
          <p:nvPr/>
        </p:nvPicPr>
        <p:blipFill>
          <a:blip r:embed="rId5">
            <a:alphaModFix/>
          </a:blip>
          <a:stretch>
            <a:fillRect/>
          </a:stretch>
        </p:blipFill>
        <p:spPr>
          <a:xfrm>
            <a:off x="340500" y="1202050"/>
            <a:ext cx="4723674" cy="3560450"/>
          </a:xfrm>
          <a:prstGeom prst="rect">
            <a:avLst/>
          </a:prstGeom>
          <a:noFill/>
          <a:ln>
            <a:noFill/>
          </a:ln>
        </p:spPr>
      </p:pic>
      <p:sp>
        <p:nvSpPr>
          <p:cNvPr id="138" name="Google Shape;138;g23ec2985a68_1_56"/>
          <p:cNvSpPr txBox="1"/>
          <p:nvPr/>
        </p:nvSpPr>
        <p:spPr>
          <a:xfrm>
            <a:off x="5394500" y="1249500"/>
            <a:ext cx="3000000" cy="229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chemeClr val="dk1"/>
                </a:solidFill>
              </a:rPr>
              <a:t>Dashboard Features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Total Nett Sales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Total Nett Profit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Total Transaction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Average Rating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Sales Trend (2020–2023)</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Top Provinces by Nett Sales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Top Provinces by Transactions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Top Performing Branches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Profit Distribution Map</a:t>
            </a:r>
            <a:endParaRPr sz="11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g3f637db6174_0_48"/>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44" name="Google Shape;144;g3f637db6174_0_48"/>
          <p:cNvPicPr preferRelativeResize="0"/>
          <p:nvPr/>
        </p:nvPicPr>
        <p:blipFill rotWithShape="1">
          <a:blip r:embed="rId4">
            <a:alphaModFix/>
          </a:blip>
          <a:srcRect b="5650" l="0" r="0" t="5659"/>
          <a:stretch/>
        </p:blipFill>
        <p:spPr>
          <a:xfrm>
            <a:off x="7317600" y="185625"/>
            <a:ext cx="1399902" cy="541300"/>
          </a:xfrm>
          <a:prstGeom prst="rect">
            <a:avLst/>
          </a:prstGeom>
          <a:noFill/>
          <a:ln>
            <a:noFill/>
          </a:ln>
        </p:spPr>
      </p:pic>
      <p:sp>
        <p:nvSpPr>
          <p:cNvPr id="145" name="Google Shape;145;g3f637db6174_0_48"/>
          <p:cNvSpPr txBox="1"/>
          <p:nvPr/>
        </p:nvSpPr>
        <p:spPr>
          <a:xfrm>
            <a:off x="340500" y="452038"/>
            <a:ext cx="8463000" cy="6003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400050" lvl="0" marL="457200" marR="0" rtl="0" algn="l">
              <a:lnSpc>
                <a:spcPct val="100000"/>
              </a:lnSpc>
              <a:spcBef>
                <a:spcPts val="0"/>
              </a:spcBef>
              <a:spcAft>
                <a:spcPts val="0"/>
              </a:spcAft>
              <a:buClr>
                <a:srgbClr val="000000"/>
              </a:buClr>
              <a:buSzPts val="2700"/>
              <a:buFont typeface="Rubik"/>
              <a:buAutoNum type="arabicPeriod" startAt="4"/>
            </a:pPr>
            <a:r>
              <a:rPr b="1" lang="en" sz="2700">
                <a:latin typeface="Rubik"/>
                <a:ea typeface="Rubik"/>
                <a:cs typeface="Rubik"/>
                <a:sym typeface="Rubik"/>
              </a:rPr>
              <a:t>Insight &amp; Recommendations</a:t>
            </a:r>
            <a:endParaRPr b="1" i="0" sz="2700" u="none" cap="none" strike="noStrike">
              <a:solidFill>
                <a:srgbClr val="000000"/>
              </a:solidFill>
              <a:latin typeface="Rubik"/>
              <a:ea typeface="Rubik"/>
              <a:cs typeface="Rubik"/>
              <a:sym typeface="Rubik"/>
            </a:endParaRPr>
          </a:p>
        </p:txBody>
      </p:sp>
      <p:sp>
        <p:nvSpPr>
          <p:cNvPr id="146" name="Google Shape;146;g3f637db6174_0_48"/>
          <p:cNvSpPr txBox="1"/>
          <p:nvPr/>
        </p:nvSpPr>
        <p:spPr>
          <a:xfrm>
            <a:off x="340500" y="1478100"/>
            <a:ext cx="3920100" cy="2100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chemeClr val="dk1"/>
                </a:solidFill>
              </a:rPr>
              <a:t>Key Findings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Total Nett Sales mencapai </a:t>
            </a:r>
            <a:r>
              <a:rPr b="1" lang="en" sz="1100">
                <a:solidFill>
                  <a:schemeClr val="dk1"/>
                </a:solidFill>
              </a:rPr>
              <a:t>Rp321,17 miliar</a:t>
            </a:r>
            <a:r>
              <a:rPr lang="en"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Total Nett Profit sebesar </a:t>
            </a:r>
            <a:r>
              <a:rPr b="1" lang="en" sz="1100">
                <a:solidFill>
                  <a:schemeClr val="dk1"/>
                </a:solidFill>
              </a:rPr>
              <a:t>Rp91,21 miliar</a:t>
            </a:r>
            <a:r>
              <a:rPr lang="en"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Selama periode 2020–2023 jumlah transaksi mencapai </a:t>
            </a:r>
            <a:r>
              <a:rPr b="1" lang="en" sz="1100">
                <a:solidFill>
                  <a:schemeClr val="dk1"/>
                </a:solidFill>
              </a:rPr>
              <a:t>672 ribu transaksi</a:t>
            </a:r>
            <a:r>
              <a:rPr lang="en"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Jawa Barat menjadi provinsi dengan kontribusi penjualan terbesar.</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Distribusi profit menunjukkan konsentrasi performa yang tinggi di Pulau Jawa.</a:t>
            </a:r>
            <a:endParaRPr b="1" sz="1300">
              <a:solidFill>
                <a:schemeClr val="dk1"/>
              </a:solidFill>
            </a:endParaRPr>
          </a:p>
        </p:txBody>
      </p:sp>
      <p:sp>
        <p:nvSpPr>
          <p:cNvPr id="147" name="Google Shape;147;g3f637db6174_0_48"/>
          <p:cNvSpPr txBox="1"/>
          <p:nvPr/>
        </p:nvSpPr>
        <p:spPr>
          <a:xfrm>
            <a:off x="4794300" y="1478100"/>
            <a:ext cx="4009200" cy="2100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chemeClr val="dk1"/>
                </a:solidFill>
              </a:rPr>
              <a:t>Recommendations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Mempertahankan strategi penjualan pada wilayah dengan performa tinggi sebagai benchmark.</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Mengevaluasi cabang dengan kontribusi penjualan yang lebih rendah.</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Mengoptimalkan distribusi produk pada wilayah dengan potensi pertumbuhan tinggi.</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Menggunakan dashboard sebagai alat monitoring performa bisnis secara berkala.</a:t>
            </a:r>
            <a:endParaRPr sz="11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9FAB"/>
        </a:solidFill>
      </p:bgPr>
    </p:bg>
    <p:spTree>
      <p:nvGrpSpPr>
        <p:cNvPr id="151" name="Shape 151"/>
        <p:cNvGrpSpPr/>
        <p:nvPr/>
      </p:nvGrpSpPr>
      <p:grpSpPr>
        <a:xfrm>
          <a:off x="0" y="0"/>
          <a:ext cx="0" cy="0"/>
          <a:chOff x="0" y="0"/>
          <a:chExt cx="0" cy="0"/>
        </a:xfrm>
      </p:grpSpPr>
      <p:pic>
        <p:nvPicPr>
          <p:cNvPr id="152" name="Google Shape;152;p8"/>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53" name="Google Shape;153;p8"/>
          <p:cNvPicPr preferRelativeResize="0"/>
          <p:nvPr/>
        </p:nvPicPr>
        <p:blipFill rotWithShape="1">
          <a:blip r:embed="rId4">
            <a:alphaModFix/>
          </a:blip>
          <a:srcRect b="0" l="0" r="0" t="0"/>
          <a:stretch/>
        </p:blipFill>
        <p:spPr>
          <a:xfrm>
            <a:off x="2895425" y="4262625"/>
            <a:ext cx="1399901" cy="541300"/>
          </a:xfrm>
          <a:prstGeom prst="rect">
            <a:avLst/>
          </a:prstGeom>
          <a:noFill/>
          <a:ln>
            <a:noFill/>
          </a:ln>
        </p:spPr>
      </p:pic>
      <p:sp>
        <p:nvSpPr>
          <p:cNvPr id="154" name="Google Shape;154;p8"/>
          <p:cNvSpPr txBox="1"/>
          <p:nvPr/>
        </p:nvSpPr>
        <p:spPr>
          <a:xfrm>
            <a:off x="2376000" y="1939850"/>
            <a:ext cx="4392000" cy="877200"/>
          </a:xfrm>
          <a:prstGeom prst="rect">
            <a:avLst/>
          </a:prstGeom>
          <a:noFill/>
          <a:ln>
            <a:noFill/>
          </a:ln>
          <a:effectLst>
            <a:outerShdw blurRad="57150" rotWithShape="0" algn="bl" dir="5400000" dist="19050">
              <a:srgbClr val="000000">
                <a:alpha val="49412"/>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500"/>
              <a:buFont typeface="Arial"/>
              <a:buNone/>
            </a:pPr>
            <a:r>
              <a:rPr b="1" i="0" lang="en" sz="4500" u="none" cap="none" strike="noStrike">
                <a:solidFill>
                  <a:schemeClr val="lt1"/>
                </a:solidFill>
                <a:latin typeface="Rubik"/>
                <a:ea typeface="Rubik"/>
                <a:cs typeface="Rubik"/>
                <a:sym typeface="Rubik"/>
              </a:rPr>
              <a:t>Thank You</a:t>
            </a:r>
            <a:endParaRPr b="0" i="0" sz="2000" u="none" cap="none" strike="noStrike">
              <a:solidFill>
                <a:schemeClr val="lt1"/>
              </a:solidFill>
              <a:latin typeface="Rubik"/>
              <a:ea typeface="Rubik"/>
              <a:cs typeface="Rubik"/>
              <a:sym typeface="Rubik"/>
            </a:endParaRPr>
          </a:p>
        </p:txBody>
      </p:sp>
      <p:sp>
        <p:nvSpPr>
          <p:cNvPr id="155" name="Google Shape;155;p8"/>
          <p:cNvSpPr txBox="1"/>
          <p:nvPr/>
        </p:nvSpPr>
        <p:spPr>
          <a:xfrm>
            <a:off x="4314750" y="4248575"/>
            <a:ext cx="457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chemeClr val="lt1"/>
                </a:solidFill>
                <a:latin typeface="Rubik SemiBold"/>
                <a:ea typeface="Rubik SemiBold"/>
                <a:cs typeface="Rubik SemiBold"/>
                <a:sym typeface="Rubik SemiBold"/>
              </a:rPr>
              <a:t>X</a:t>
            </a:r>
            <a:endParaRPr b="0" i="0" sz="3000" u="none" cap="none" strike="noStrike">
              <a:solidFill>
                <a:schemeClr val="lt1"/>
              </a:solidFill>
              <a:latin typeface="Rubik SemiBold"/>
              <a:ea typeface="Rubik SemiBold"/>
              <a:cs typeface="Rubik SemiBold"/>
              <a:sym typeface="Rubik SemiBold"/>
            </a:endParaRPr>
          </a:p>
        </p:txBody>
      </p:sp>
      <p:pic>
        <p:nvPicPr>
          <p:cNvPr id="156" name="Google Shape;156;p8"/>
          <p:cNvPicPr preferRelativeResize="0"/>
          <p:nvPr/>
        </p:nvPicPr>
        <p:blipFill rotWithShape="1">
          <a:blip r:embed="rId5">
            <a:alphaModFix/>
          </a:blip>
          <a:srcRect b="0" l="0" r="0" t="0"/>
          <a:stretch/>
        </p:blipFill>
        <p:spPr>
          <a:xfrm>
            <a:off x="4871775" y="4251506"/>
            <a:ext cx="1538100" cy="55241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9FAB"/>
        </a:solidFill>
      </p:bgPr>
    </p:bg>
    <p:spTree>
      <p:nvGrpSpPr>
        <p:cNvPr id="160" name="Shape 160"/>
        <p:cNvGrpSpPr/>
        <p:nvPr/>
      </p:nvGrpSpPr>
      <p:grpSpPr>
        <a:xfrm>
          <a:off x="0" y="0"/>
          <a:ext cx="0" cy="0"/>
          <a:chOff x="0" y="0"/>
          <a:chExt cx="0" cy="0"/>
        </a:xfrm>
      </p:grpSpPr>
      <p:sp>
        <p:nvSpPr>
          <p:cNvPr id="161" name="Google Shape;161;g3f637db6174_0_89"/>
          <p:cNvSpPr/>
          <p:nvPr/>
        </p:nvSpPr>
        <p:spPr>
          <a:xfrm>
            <a:off x="3043650" y="2447750"/>
            <a:ext cx="3000000" cy="789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g3f637db6174_0_89"/>
          <p:cNvSpPr/>
          <p:nvPr/>
        </p:nvSpPr>
        <p:spPr>
          <a:xfrm>
            <a:off x="3043650" y="1422375"/>
            <a:ext cx="3000000" cy="789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3" name="Google Shape;163;g3f637db6174_0_89"/>
          <p:cNvPicPr preferRelativeResize="0"/>
          <p:nvPr/>
        </p:nvPicPr>
        <p:blipFill rotWithShape="1">
          <a:blip r:embed="rId3">
            <a:alphaModFix/>
          </a:blip>
          <a:srcRect b="0" l="0" r="0" t="0"/>
          <a:stretch/>
        </p:blipFill>
        <p:spPr>
          <a:xfrm>
            <a:off x="2895425" y="4262625"/>
            <a:ext cx="1399901" cy="541300"/>
          </a:xfrm>
          <a:prstGeom prst="rect">
            <a:avLst/>
          </a:prstGeom>
          <a:noFill/>
          <a:ln>
            <a:noFill/>
          </a:ln>
        </p:spPr>
      </p:pic>
      <p:sp>
        <p:nvSpPr>
          <p:cNvPr id="164" name="Google Shape;164;g3f637db6174_0_89"/>
          <p:cNvSpPr txBox="1"/>
          <p:nvPr/>
        </p:nvSpPr>
        <p:spPr>
          <a:xfrm>
            <a:off x="4314750" y="4248575"/>
            <a:ext cx="457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chemeClr val="lt1"/>
                </a:solidFill>
                <a:latin typeface="Rubik SemiBold"/>
                <a:ea typeface="Rubik SemiBold"/>
                <a:cs typeface="Rubik SemiBold"/>
                <a:sym typeface="Rubik SemiBold"/>
              </a:rPr>
              <a:t>X</a:t>
            </a:r>
            <a:endParaRPr b="0" i="0" sz="3000" u="none" cap="none" strike="noStrike">
              <a:solidFill>
                <a:schemeClr val="lt1"/>
              </a:solidFill>
              <a:latin typeface="Rubik SemiBold"/>
              <a:ea typeface="Rubik SemiBold"/>
              <a:cs typeface="Rubik SemiBold"/>
              <a:sym typeface="Rubik SemiBold"/>
            </a:endParaRPr>
          </a:p>
        </p:txBody>
      </p:sp>
      <p:pic>
        <p:nvPicPr>
          <p:cNvPr id="165" name="Google Shape;165;g3f637db6174_0_89"/>
          <p:cNvPicPr preferRelativeResize="0"/>
          <p:nvPr/>
        </p:nvPicPr>
        <p:blipFill rotWithShape="1">
          <a:blip r:embed="rId4">
            <a:alphaModFix/>
          </a:blip>
          <a:srcRect b="0" l="0" r="0" t="0"/>
          <a:stretch/>
        </p:blipFill>
        <p:spPr>
          <a:xfrm>
            <a:off x="4871775" y="4251506"/>
            <a:ext cx="1538100" cy="552418"/>
          </a:xfrm>
          <a:prstGeom prst="rect">
            <a:avLst/>
          </a:prstGeom>
          <a:noFill/>
          <a:ln>
            <a:noFill/>
          </a:ln>
        </p:spPr>
      </p:pic>
      <p:sp>
        <p:nvSpPr>
          <p:cNvPr id="166" name="Google Shape;166;g3f637db6174_0_89"/>
          <p:cNvSpPr txBox="1"/>
          <p:nvPr/>
        </p:nvSpPr>
        <p:spPr>
          <a:xfrm>
            <a:off x="3043650" y="1509225"/>
            <a:ext cx="3000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t>Github Repository</a:t>
            </a:r>
            <a:endParaRPr b="1"/>
          </a:p>
          <a:p>
            <a:pPr indent="0" lvl="0" marL="0" rtl="0" algn="ctr">
              <a:spcBef>
                <a:spcPts val="0"/>
              </a:spcBef>
              <a:spcAft>
                <a:spcPts val="0"/>
              </a:spcAft>
              <a:buNone/>
            </a:pPr>
            <a:r>
              <a:rPr lang="en" u="sng">
                <a:solidFill>
                  <a:schemeClr val="hlink"/>
                </a:solidFill>
                <a:hlinkClick r:id="rId5"/>
              </a:rPr>
              <a:t>kimia-farma-big-data-analytics</a:t>
            </a:r>
            <a:endParaRPr/>
          </a:p>
        </p:txBody>
      </p:sp>
      <p:sp>
        <p:nvSpPr>
          <p:cNvPr id="167" name="Google Shape;167;g3f637db6174_0_89"/>
          <p:cNvSpPr txBox="1"/>
          <p:nvPr/>
        </p:nvSpPr>
        <p:spPr>
          <a:xfrm>
            <a:off x="3072000" y="2384688"/>
            <a:ext cx="3000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t>Link Dashboard</a:t>
            </a:r>
            <a:endParaRPr b="1"/>
          </a:p>
          <a:p>
            <a:pPr indent="0" lvl="0" marL="0" rtl="0" algn="ctr">
              <a:spcBef>
                <a:spcPts val="0"/>
              </a:spcBef>
              <a:spcAft>
                <a:spcPts val="0"/>
              </a:spcAft>
              <a:buNone/>
            </a:pPr>
            <a:r>
              <a:rPr lang="en" u="sng">
                <a:solidFill>
                  <a:schemeClr val="hlink"/>
                </a:solidFill>
                <a:hlinkClick r:id="rId6"/>
              </a:rPr>
              <a:t>Kimia Farma Business Performance Analysis Dashboard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